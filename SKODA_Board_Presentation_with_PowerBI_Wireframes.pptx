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5156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Digital Procurement Board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24128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800" b="0">
                <a:solidFill>
                  <a:srgbClr val="D9EAF7"/>
                </a:solidFill>
              </a:defRPr>
            </a:pPr>
            <a:r>
              <a:t>Dashboard-led story for material cost, savings, production, buyers, suppliers 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880360"/>
            <a:ext cx="384048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</a:defRPr>
            </a:pPr>
            <a:r>
              <a:t>40-minute recommended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343400"/>
            <a:ext cx="105156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Prepared as a visual discussion 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172200"/>
            <a:ext cx="105156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ED7D31"/>
                </a:solidFill>
              </a:defRPr>
            </a:pPr>
            <a:r>
              <a:t>All values in this deck are illustrative synthetic examples.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1. Executive Procurement Command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Start with outcomes, not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Material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₹1,248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234440"/>
            <a:ext cx="205740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Savings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₹42.6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Savings vs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234440"/>
            <a:ext cx="205740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YoY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+8.2%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Exceptions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pic>
        <p:nvPicPr>
          <p:cNvPr id="22" name="Picture 21" descr="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486400" cy="29704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60" y="25146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Kodiaq has the largest illustrative material-cost base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Five exceptions make it the strongest live drill-down candidate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Savings are near target, but pipeline conversion remains important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Use one selected model across all screens to create a single coherent board narrative.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2. Material Cost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Car → Vertical →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Baseline Cost/Car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₹14.20 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 Cost/Car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₹14.66 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Net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+₹46,000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+3.2%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51206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</a:defRPr>
            </a:pPr>
            <a:r>
              <a:t>Net movement by vertical (₹ lakh/car)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Powertrain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907791"/>
            <a:ext cx="241401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880360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+0.22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73552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Exterior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300984"/>
            <a:ext cx="877824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3273552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+0.08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66744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Body &amp; Comfort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694176"/>
            <a:ext cx="1097280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3666744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+0.10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59935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E/E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087368"/>
            <a:ext cx="877824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600" y="4059935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+0.08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53128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Interior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480560"/>
            <a:ext cx="109728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4453128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-0.01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14630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Chassis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4873752"/>
            <a:ext cx="109728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600" y="4846320"/>
            <a:ext cx="9144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</a:defRPr>
            </a:pPr>
            <a:r>
              <a:t>-0.01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5146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Powertrain drives approximately 48% of the total increase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ECU and turbocharger are the first part-level review points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Drill-down explains both price driver and accountability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CE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Concentrate management attention on Powertrain before broadening the review to other verticals.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3. Material 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Separate realized value from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Annual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₹46.8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₹42.6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Validated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₹6.9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₹4.2 Cr</a:t>
            </a:r>
          </a:p>
        </p:txBody>
      </p:sp>
      <p:pic>
        <p:nvPicPr>
          <p:cNvPr id="19" name="Picture 18" descr="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669280" cy="30694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0" y="2468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Pipeline is sufficient to close the full-year target gap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Powertrain and Electrical/Electronics hold the largest conversion opportunity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Show buyer and part ownership for each major opportunity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E2F0D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The issue is conversion, not opportunity availability; set a clear cadence on the validated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4. Production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Prior year vs current year with cost-per-vehicle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Prior-Year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52,200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Current-Year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56,480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+8.2%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Cost/Vehicle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+3.2%</a:t>
            </a:r>
          </a:p>
        </p:txBody>
      </p:sp>
      <p:pic>
        <p:nvPicPr>
          <p:cNvPr id="19" name="Picture 18" descr="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669280" cy="2851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0" y="2468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Production has increased year over year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Cost per vehicle has also increased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Therefore, cost movement cannot be attributed to volume alone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CE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Use per-vehicle cost to isolate procurement performance from production-volume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5. Buyer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Role-based actionability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Assigned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₹186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Savings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₹8.5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Savings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₹7.3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₹2.4 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234440"/>
            <a:ext cx="2057400" cy="914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4011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Overdue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14600"/>
            <a:ext cx="53035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</a:defRPr>
            </a:pPr>
            <a:r>
              <a:t>Top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71800"/>
            <a:ext cx="5120640" cy="5029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044952"/>
            <a:ext cx="29260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17365D"/>
                </a:solidFill>
              </a:defRPr>
            </a:pPr>
            <a:r>
              <a:t>ECU negotiation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044952"/>
            <a:ext cx="9144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</a:defRPr>
            </a:pPr>
            <a:r>
              <a:t>₹0.6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44952"/>
            <a:ext cx="73152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ED7D31"/>
                </a:solidFill>
              </a:defRPr>
            </a:pPr>
            <a:r>
              <a:t>12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30168"/>
            <a:ext cx="5120640" cy="5029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703320"/>
            <a:ext cx="29260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17365D"/>
                </a:solidFill>
              </a:defRPr>
            </a:pPr>
            <a:r>
              <a:t>Turbo alloy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703320"/>
            <a:ext cx="9144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</a:defRPr>
            </a:pPr>
            <a:r>
              <a:t>₹0.3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703320"/>
            <a:ext cx="73152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ED7D31"/>
                </a:solidFill>
              </a:defRPr>
            </a:pPr>
            <a:r>
              <a:t>8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88536"/>
            <a:ext cx="5120640" cy="5029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361688"/>
            <a:ext cx="29260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17365D"/>
                </a:solidFill>
              </a:defRPr>
            </a:pPr>
            <a:r>
              <a:t>Seat technical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361688"/>
            <a:ext cx="9144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</a:defRPr>
            </a:pPr>
            <a:r>
              <a:t>₹0.2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361688"/>
            <a:ext cx="73152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0">
                <a:solidFill>
                  <a:srgbClr val="ED7D31"/>
                </a:solidFill>
              </a:defRPr>
            </a:pPr>
            <a:r>
              <a:t>5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603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Buyer sees only assigned verticals and parts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Action list links opportunity to owner and aging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Top three actions can add ₹1.1 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E2F0D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Move from performance reporting to a short, value-ranked action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6. Top 5 Suppliers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Balance spend, savings, price movement and open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Top-5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₹418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Savings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₹18.7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₹7.3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Largest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Supplier C</a:t>
            </a:r>
          </a:p>
        </p:txBody>
      </p:sp>
      <p:pic>
        <p:nvPicPr>
          <p:cNvPr id="19" name="Picture 18" descr="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669280" cy="30079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0" y="2468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Supplier C combines highest opportunity with elevated price variance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Supplier A requires alloy/FX linkage negotiation</a:t>
            </a:r>
          </a:p>
          <a:p>
            <a:pPr>
              <a:spcAft>
                <a:spcPts val="800"/>
              </a:spcAft>
              <a:defRPr sz="1700">
                <a:solidFill>
                  <a:srgbClr val="5A5A5A"/>
                </a:solidFill>
              </a:defRPr>
            </a:pPr>
            <a:r>
              <a:t>• Supplier E merits an FX exposure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CE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Prioritize Supplier C for board-sponsored escalation and focused negotiation.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7. Forecast &amp; Vehicle Cost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Material + forex → part → vertical → overall cost per 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57400" cy="9144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Baseline Cost/Car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₹14.66 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Forecast Cost/Car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₹15.04 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34440"/>
            <a:ext cx="2057400" cy="914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Increase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₹38,000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205740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1353312"/>
            <a:ext cx="1911095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Annual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2"/>
            <a:ext cx="1911095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₹38 Cr</a:t>
            </a:r>
          </a:p>
        </p:txBody>
      </p:sp>
      <p:pic>
        <p:nvPicPr>
          <p:cNvPr id="19" name="Picture 18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6400800" cy="30687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69480" y="251460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A5A5A"/>
                </a:solidFill>
              </a:defRPr>
            </a:pPr>
            <a:r>
              <a:t>• Steel/alloys: ₹0.14 L/car</a:t>
            </a:r>
          </a:p>
          <a:p>
            <a:pPr>
              <a:spcAft>
                <a:spcPts val="800"/>
              </a:spcAft>
              <a:defRPr sz="1600">
                <a:solidFill>
                  <a:srgbClr val="5A5A5A"/>
                </a:solidFill>
              </a:defRPr>
            </a:pPr>
            <a:r>
              <a:t>• EUR exposure: ₹0.11 L/car</a:t>
            </a:r>
          </a:p>
          <a:p>
            <a:pPr>
              <a:spcAft>
                <a:spcPts val="800"/>
              </a:spcAft>
              <a:defRPr sz="1600">
                <a:solidFill>
                  <a:srgbClr val="5A5A5A"/>
                </a:solidFill>
              </a:defRPr>
            </a:pPr>
            <a:r>
              <a:t>• These two drivers create around two-thirds of the projected increase</a:t>
            </a:r>
          </a:p>
          <a:p>
            <a:pPr>
              <a:spcAft>
                <a:spcPts val="800"/>
              </a:spcAft>
              <a:defRPr sz="1600">
                <a:solidFill>
                  <a:srgbClr val="5A5A5A"/>
                </a:solidFill>
              </a:defRPr>
            </a:pPr>
            <a:r>
              <a:t>• Use sourcing and hedging scenarios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CE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The base forecast suggests a 2.6% cost-per-car increase; steel and EUR exposure are the first mitigation levers.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8. Sample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Cars → Verticals → Parts → Buyers → Suppliers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691640" cy="658368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286000"/>
            <a:ext cx="1920240" cy="65836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2395728"/>
            <a:ext cx="1828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Car–Part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286000"/>
            <a:ext cx="1691640" cy="65836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59" y="239572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63040"/>
            <a:ext cx="1691640" cy="65836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157276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Verticals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560320"/>
            <a:ext cx="1691640" cy="658368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267004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657600"/>
            <a:ext cx="1691640" cy="65836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376732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Suppliers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251960"/>
            <a:ext cx="1691640" cy="65836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4361688"/>
            <a:ext cx="16002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Monthly Fact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0280" y="2615184"/>
            <a:ext cx="32004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2615184"/>
            <a:ext cx="41148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83680" y="1792224"/>
            <a:ext cx="731520" cy="82296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0" y="2615184"/>
            <a:ext cx="731520" cy="27432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0" y="2615184"/>
            <a:ext cx="731520" cy="137160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15000" y="2944368"/>
            <a:ext cx="0" cy="1307592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0" y="15087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A5A5A"/>
                </a:solidFill>
              </a:defRPr>
            </a:pPr>
            <a:r>
              <a:t>• Fact grain: Month × Car × Part</a:t>
            </a:r>
          </a:p>
          <a:p>
            <a:pPr>
              <a:spcAft>
                <a:spcPts val="800"/>
              </a:spcAft>
              <a:defRPr sz="1300">
                <a:solidFill>
                  <a:srgbClr val="5A5A5A"/>
                </a:solidFill>
              </a:defRPr>
            </a:pPr>
            <a:r>
              <a:t>• Parts own Vertical, Buyer and Supplier keys</a:t>
            </a:r>
          </a:p>
          <a:p>
            <a:pPr>
              <a:spcAft>
                <a:spcPts val="800"/>
              </a:spcAft>
              <a:defRPr sz="1300">
                <a:solidFill>
                  <a:srgbClr val="5A5A5A"/>
                </a:solidFill>
              </a:defRPr>
            </a:pPr>
            <a:r>
              <a:t>• Bridge supports parts used across multiple cars</a:t>
            </a:r>
          </a:p>
          <a:p>
            <a:pPr>
              <a:spcAft>
                <a:spcPts val="800"/>
              </a:spcAft>
              <a:defRPr sz="1300">
                <a:solidFill>
                  <a:srgbClr val="5A5A5A"/>
                </a:solidFill>
              </a:defRPr>
            </a:pPr>
            <a:r>
              <a:t>• Supports drill-down and scenario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Use a star schema and explicit bridge table to keep drill-down logic transparent and scalable.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</a:defRPr>
            </a:pPr>
            <a:r>
              <a:t>9. Board Takeaways &amp; Recommended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Close on decision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NOT ACTUAL ŠKODA BUSINESS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3657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 b="0">
                <a:solidFill>
                  <a:srgbClr val="5A5A5A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7548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800" b="1">
                <a:solidFill>
                  <a:srgbClr val="2F75B5"/>
                </a:solidFill>
              </a:defRPr>
            </a:pPr>
            <a:r>
              <a:t>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7548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</a:defRPr>
            </a:pPr>
            <a:r>
              <a:t>One view of cost, savings, production and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7548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800" b="1">
                <a:solidFill>
                  <a:srgbClr val="70AD47"/>
                </a:solidFill>
              </a:defRPr>
            </a:pPr>
            <a: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7548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</a:defRPr>
            </a:pPr>
            <a:r>
              <a:t>Buyer and supplier ownership down to part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51663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83279"/>
            <a:ext cx="47548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</a:defRPr>
            </a:pPr>
            <a:r>
              <a:t>Foresight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47548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</a:defRPr>
            </a:pPr>
            <a:r>
              <a:t>Material and FX exposure translated to cost per 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1663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79"/>
            <a:ext cx="47548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39"/>
            <a:ext cx="475488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</a:defRPr>
            </a:pPr>
            <a:r>
              <a:t>Prioritized interventions linked to measurable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E2F0D9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779008"/>
            <a:ext cx="106527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BOARD INSIGHT: Next step: confirm client terminology and sample masters, then replace synthetic values with approved data while preserving the dashboard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94360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SKODA DIGITAL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"/>
            <a:ext cx="21031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Power BI Wireframe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6809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100" b="1">
                <a:solidFill>
                  <a:srgbClr val="17365D"/>
                </a:solidFill>
              </a:defRPr>
            </a:pPr>
            <a:r>
              <a:t>Wireframe 1 — Executive Procurement Command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932688"/>
            <a:ext cx="795527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0">
                <a:solidFill>
                  <a:srgbClr val="69737D"/>
                </a:solidFill>
              </a:defRPr>
            </a:pPr>
            <a:r>
              <a:t>Single-screen board summary with persistent slicers and cross-filtering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Model: Kodiaq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76688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0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Period: FY25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Plant: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Scenario: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WIREFRAME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47104"/>
            <a:ext cx="3200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0">
                <a:solidFill>
                  <a:srgbClr val="69737D"/>
                </a:solidFill>
              </a:defRPr>
            </a:pPr>
            <a: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Material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₹1,248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+3.2%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0720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₹42.6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70AD47"/>
                </a:solidFill>
              </a:defRPr>
            </a:pPr>
            <a:r>
              <a:t>91% target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56,480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70AD47"/>
                </a:solidFill>
              </a:defRPr>
            </a:pPr>
            <a:r>
              <a:t>+8.2%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632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Forecast Cost/Car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₹15.04 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+2.6%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088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Exceptions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5 critical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212848"/>
            <a:ext cx="5440680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2286000"/>
            <a:ext cx="516636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Material cost and savings trend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3749039"/>
            <a:ext cx="4736592" cy="0"/>
          </a:xfrm>
          <a:prstGeom prst="line">
            <a:avLst/>
          </a:prstGeom>
          <a:ln>
            <a:solidFill>
              <a:srgbClr val="DE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2960" y="2697480"/>
            <a:ext cx="0" cy="1051559"/>
          </a:xfrm>
          <a:prstGeom prst="line">
            <a:avLst/>
          </a:prstGeom>
          <a:ln>
            <a:solidFill>
              <a:srgbClr val="DE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2960" y="3482340"/>
            <a:ext cx="947318" cy="175259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770278" y="3342132"/>
            <a:ext cx="947318" cy="140208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17596" y="3166871"/>
            <a:ext cx="947319" cy="175261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64915" y="2956559"/>
            <a:ext cx="947318" cy="210312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12233" y="2816351"/>
            <a:ext cx="947319" cy="140208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86384" y="3621023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733702" y="3445764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681020" y="3305556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28339" y="3130295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5657" y="2919983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522976" y="2779775"/>
            <a:ext cx="73152" cy="73152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 flipV="1">
            <a:off x="822960" y="3550206"/>
            <a:ext cx="947318" cy="107393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770278" y="3442813"/>
            <a:ext cx="947318" cy="107393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717596" y="3317521"/>
            <a:ext cx="947319" cy="125292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664915" y="3120633"/>
            <a:ext cx="947318" cy="196888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12233" y="2816351"/>
            <a:ext cx="947319" cy="304282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86384" y="3621023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733702" y="3513630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681020" y="3406237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28339" y="3280945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5657" y="3084057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22976" y="2779775"/>
            <a:ext cx="73152" cy="7315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60" y="3794760"/>
            <a:ext cx="22860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■ Material cost    ■ Savings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2212848"/>
            <a:ext cx="2606040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63640" y="2286000"/>
            <a:ext cx="23317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Cost by 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2633472"/>
            <a:ext cx="730605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Kodiaq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2942" y="2660903"/>
            <a:ext cx="1181862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86292" y="2633472"/>
            <a:ext cx="171907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2885846"/>
            <a:ext cx="730605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Kushaq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2942" y="2913278"/>
            <a:ext cx="104136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86292" y="2885846"/>
            <a:ext cx="171907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252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3138220"/>
            <a:ext cx="730605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Slavia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82942" y="3165652"/>
            <a:ext cx="95458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86292" y="3138220"/>
            <a:ext cx="171907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60" y="3390595"/>
            <a:ext cx="730605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Kylaq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82942" y="3418027"/>
            <a:ext cx="818212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86292" y="3390595"/>
            <a:ext cx="171907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198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3642969"/>
            <a:ext cx="730605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Superb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82942" y="3670401"/>
            <a:ext cx="677711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86292" y="3642969"/>
            <a:ext cx="171907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164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15400" y="2212848"/>
            <a:ext cx="2743200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052560" y="2286000"/>
            <a:ext cx="24688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Exception status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8280" y="2633472"/>
            <a:ext cx="767913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Critical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11364" y="2660903"/>
            <a:ext cx="1035177" cy="12801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176162" y="2633472"/>
            <a:ext cx="180685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98280" y="2942082"/>
            <a:ext cx="767913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High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11364" y="2969513"/>
            <a:ext cx="828141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76162" y="2942082"/>
            <a:ext cx="180685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98280" y="3250691"/>
            <a:ext cx="767913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Medium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11364" y="3278123"/>
            <a:ext cx="1242212" cy="128016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176162" y="3250691"/>
            <a:ext cx="180685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98280" y="3559302"/>
            <a:ext cx="767913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Low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11364" y="3586734"/>
            <a:ext cx="414070" cy="128016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76162" y="3559302"/>
            <a:ext cx="180685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4325112"/>
            <a:ext cx="6858000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" y="4398264"/>
            <a:ext cx="65836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Executive exception table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Model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Vertical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88920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Driver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51960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Impact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83480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Owner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89320" y="4645152"/>
            <a:ext cx="91440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Status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8368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Kodiaq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00200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Powertrain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88920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FX + alloy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51960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₹0.22 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83480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Buyer 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89320" y="4919472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Critical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Kushaq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00200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E/E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88920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Semiconductor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51960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₹0.09 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83480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Buyer 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89320" y="5138928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High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8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Slavia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00200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Exterior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88920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Polymer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51960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₹0.05 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83480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Buyer B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89320" y="5358383"/>
            <a:ext cx="96012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Medium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543800" y="4325112"/>
            <a:ext cx="4114800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680960" y="4398264"/>
            <a:ext cx="38404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Recommended actions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54112" y="4617720"/>
            <a:ext cx="365760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37414B"/>
                </a:solidFill>
              </a:defRPr>
            </a:pPr>
            <a:r>
              <a:t>1  Escalate Supplier C</a:t>
            </a:r>
            <a:br/>
            <a:r>
              <a:t>2  Convert ₹4.2 Cr savings gap</a:t>
            </a:r>
            <a:br/>
            <a:r>
              <a:t>3  Review steel + EUR mitigation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5916168"/>
            <a:ext cx="11155680" cy="429768"/>
          </a:xfrm>
          <a:prstGeom prst="round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58368" y="5980176"/>
            <a:ext cx="1078992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BOARD INSIGHT: Kodiaq is the recommended drill-down because it combines the largest cost base with the highest exception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94360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SKODA DIGITAL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"/>
            <a:ext cx="21031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Power BI Wireframe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6809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100" b="1">
                <a:solidFill>
                  <a:srgbClr val="17365D"/>
                </a:solidFill>
              </a:defRPr>
            </a:pPr>
            <a:r>
              <a:t>Wireframe 2 — Material Cost Movement Drill-down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932688"/>
            <a:ext cx="795527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0">
                <a:solidFill>
                  <a:srgbClr val="69737D"/>
                </a:solidFill>
              </a:defRPr>
            </a:pPr>
            <a:r>
              <a:t>Interactive hierarchy: Car → Vertical → Part → Supplier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Model: Kodiaq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76688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0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Period: FY25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Plant: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Scenario: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WIREFRAME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47104"/>
            <a:ext cx="3200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0">
                <a:solidFill>
                  <a:srgbClr val="69737D"/>
                </a:solidFill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Baseline/Car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₹14.20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2F75B5"/>
                </a:solidFill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9748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0720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Current/Car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₹14.66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+3.2%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Net Movement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₹46,000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per 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632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Top 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Powertrain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48%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088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Parts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4 critical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212848"/>
            <a:ext cx="11155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2286000"/>
            <a:ext cx="1069848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100" b="1">
                <a:solidFill>
                  <a:srgbClr val="17365D"/>
                </a:solidFill>
              </a:defRPr>
            </a:pPr>
            <a:r>
              <a:t>Kodiaq  ›  Powertrain  ›  Engine Control Unit  ›  Supplier 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2761488"/>
            <a:ext cx="36576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2834640"/>
            <a:ext cx="33832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Vertical contribution to cost 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172968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Powertrain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48916" y="3200400"/>
            <a:ext cx="1735074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5537" y="3172968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3485388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Body &amp; Comfort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48916" y="3512820"/>
            <a:ext cx="788670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15537" y="3485388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797808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Exterior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8916" y="3825240"/>
            <a:ext cx="630936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5537" y="3797808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4110228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E/E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48916" y="4137660"/>
            <a:ext cx="630936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15537" y="4110228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4422648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Interior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48916" y="4450080"/>
            <a:ext cx="78867" cy="128016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15537" y="4422648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-0.01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4735067"/>
            <a:ext cx="1072591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Chassis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48916" y="4762500"/>
            <a:ext cx="78867" cy="128016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15537" y="4735067"/>
            <a:ext cx="25237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-0.01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43400" y="2761488"/>
            <a:ext cx="38862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80560" y="2834640"/>
            <a:ext cx="36118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Part-level variance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53712" y="3172968"/>
            <a:ext cx="116586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ECU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88152" y="3200400"/>
            <a:ext cx="1885950" cy="12801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08392" y="3172968"/>
            <a:ext cx="27432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53712" y="3547872"/>
            <a:ext cx="116586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Turbocharger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88152" y="3575304"/>
            <a:ext cx="1100137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08392" y="3547872"/>
            <a:ext cx="27432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3922776"/>
            <a:ext cx="116586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Infotainment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88152" y="3950208"/>
            <a:ext cx="942975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08392" y="3922776"/>
            <a:ext cx="27432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53712" y="4297680"/>
            <a:ext cx="116586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Front bumper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88152" y="4325112"/>
            <a:ext cx="785812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8392" y="4297680"/>
            <a:ext cx="27432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53712" y="4672584"/>
            <a:ext cx="1165860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Seat mechanism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88152" y="4700016"/>
            <a:ext cx="62865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08392" y="4672584"/>
            <a:ext cx="27432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12480" y="2761488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49640" y="2834640"/>
            <a:ext cx="29718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Selected part detail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13648" y="3182112"/>
            <a:ext cx="2788920" cy="1737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0">
                <a:solidFill>
                  <a:srgbClr val="37414B"/>
                </a:solidFill>
              </a:defRPr>
            </a:pPr>
            <a:r>
              <a:t>Part: Engine Control Unit</a:t>
            </a:r>
            <a:br/>
            <a:r>
              <a:t>Vertical: Powertrain</a:t>
            </a:r>
            <a:br/>
            <a:r>
              <a:t>Supplier: Supplier C</a:t>
            </a:r>
            <a:br/>
            <a:r>
              <a:t>Buyer: Buyer A</a:t>
            </a:r>
            <a:br/>
            <a:r>
              <a:t>Commodity: Semiconductor</a:t>
            </a:r>
            <a:br/>
            <a:r>
              <a:t>Currency: EUR</a:t>
            </a:r>
            <a:br/>
            <a:r>
              <a:t>Action: Commercial escalation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5916168"/>
            <a:ext cx="11155680" cy="429768"/>
          </a:xfrm>
          <a:prstGeom prst="round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8368" y="5980176"/>
            <a:ext cx="1078992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BOARD INSIGHT: Powertrain explains nearly half the increase; use ECU and turbocharger as the first two drill-down examples.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94360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SKODA DIGITAL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"/>
            <a:ext cx="21031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Power BI Wireframe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6809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100" b="1">
                <a:solidFill>
                  <a:srgbClr val="17365D"/>
                </a:solidFill>
              </a:defRPr>
            </a:pPr>
            <a:r>
              <a:t>Wireframe 3 — Buyer &amp; Supplier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932688"/>
            <a:ext cx="795527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0">
                <a:solidFill>
                  <a:srgbClr val="69737D"/>
                </a:solidFill>
              </a:defRPr>
            </a:pPr>
            <a:r>
              <a:t>Role-based action dashboard with value-ranked 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Model: Kodiaq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76688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0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Period: FY25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Plant: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Scenario: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WIREFRAME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47104"/>
            <a:ext cx="3200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0">
                <a:solidFill>
                  <a:srgbClr val="69737D"/>
                </a:solidFill>
              </a:defRPr>
            </a:pPr>
            <a: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Assigned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₹186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2F75B5"/>
                </a:solidFill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9748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0720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Savings Achieved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₹7.3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70AD47"/>
                </a:solidFill>
              </a:defRPr>
            </a:pPr>
            <a:r>
              <a:t>86% target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Open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₹2.4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8660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632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Overdue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8116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088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Top Supplier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Supplier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₹2.6 Cr opp.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212848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2286000"/>
            <a:ext cx="429768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Buyer portfolio — opportunity vs achieved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2651760"/>
            <a:ext cx="13990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ECU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2679191"/>
            <a:ext cx="2263140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17136" y="2651760"/>
            <a:ext cx="32918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953512"/>
            <a:ext cx="13990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Turbo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12848" y="2980944"/>
            <a:ext cx="1645920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17136" y="2953512"/>
            <a:ext cx="32918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255263"/>
            <a:ext cx="13990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Seat mech.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2848" y="3282695"/>
            <a:ext cx="102870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17136" y="3255263"/>
            <a:ext cx="32918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557015"/>
            <a:ext cx="13990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Cooling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12848" y="3584447"/>
            <a:ext cx="1440179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17136" y="3557015"/>
            <a:ext cx="32918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3858768"/>
            <a:ext cx="13990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Bumper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12848" y="3886200"/>
            <a:ext cx="82296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17136" y="3858768"/>
            <a:ext cx="329184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977639"/>
            <a:ext cx="32918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Bar length = open opportunity (₹ Cr)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57800" y="2212848"/>
            <a:ext cx="2926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0" y="2286000"/>
            <a:ext cx="265176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Top supplier opportunity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68112" y="2651760"/>
            <a:ext cx="839419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Supplier 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6908" y="2679191"/>
            <a:ext cx="1357884" cy="12801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39481" y="2651760"/>
            <a:ext cx="19751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2.6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8112" y="2953512"/>
            <a:ext cx="839419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Supplier 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6908" y="2980944"/>
            <a:ext cx="783394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39481" y="2953512"/>
            <a:ext cx="19751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68112" y="3255263"/>
            <a:ext cx="839419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Supplier 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6908" y="3282695"/>
            <a:ext cx="678942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39481" y="3255263"/>
            <a:ext cx="19751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1.3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68112" y="3557015"/>
            <a:ext cx="839419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Supplier 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6908" y="3584447"/>
            <a:ext cx="574489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39481" y="3557015"/>
            <a:ext cx="19751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1.1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68112" y="3858768"/>
            <a:ext cx="839419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Supplier 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6908" y="3886200"/>
            <a:ext cx="417810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39481" y="3858768"/>
            <a:ext cx="19751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6760" y="2212848"/>
            <a:ext cx="3291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03920" y="2286000"/>
            <a:ext cx="30175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Action aging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77072" y="2651760"/>
            <a:ext cx="9482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&gt;15 days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81083" y="2679191"/>
            <a:ext cx="340868" cy="12801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42878" y="2651760"/>
            <a:ext cx="223113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77072" y="3028950"/>
            <a:ext cx="9482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8–15 days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81083" y="3056382"/>
            <a:ext cx="681736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142878" y="3028950"/>
            <a:ext cx="223113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77072" y="3406139"/>
            <a:ext cx="9482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1–7 days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81083" y="3433571"/>
            <a:ext cx="1022603" cy="128016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42878" y="3406139"/>
            <a:ext cx="223113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7072" y="3783329"/>
            <a:ext cx="94823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On track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81083" y="3810761"/>
            <a:ext cx="1533906" cy="128016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142878" y="3783329"/>
            <a:ext cx="223113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9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2920" y="452628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0080" y="4599432"/>
            <a:ext cx="1088135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Priority action table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Priority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1732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Part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036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Supplier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6052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Action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Value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7532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Age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35440" y="4800600"/>
            <a:ext cx="12801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</a:defRPr>
            </a:pPr>
            <a:r>
              <a:t>Next Gate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1732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ECU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8036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Supplier 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60520" y="5074920"/>
            <a:ext cx="24688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Complete negotiation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₹0.6 Cr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7532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12d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35440" y="50749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Board escalation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1732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Turbo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8036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Supplier 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60520" y="5303520"/>
            <a:ext cx="24688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Validate alloy linkage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1520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₹0.3 Cr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7532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8d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35440" y="5303520"/>
            <a:ext cx="12344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700" b="0">
                <a:solidFill>
                  <a:srgbClr val="37414B"/>
                </a:solidFill>
              </a:defRPr>
            </a:pPr>
            <a:r>
              <a:t>Commercial close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02920" y="5916168"/>
            <a:ext cx="11155680" cy="429768"/>
          </a:xfrm>
          <a:prstGeom prst="round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58368" y="5980176"/>
            <a:ext cx="1078992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BOARD INSIGHT: Closing the top three buyer actions can add ₹1.1 Cr; Supplier C is the highest-value escalation.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594360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SKODA DIGITAL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"/>
            <a:ext cx="21031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Power BI Wireframe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76809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2100" b="1">
                <a:solidFill>
                  <a:srgbClr val="17365D"/>
                </a:solidFill>
              </a:defRPr>
            </a:pPr>
            <a:r>
              <a:t>Wireframe 4 — Forecast &amp; Vehicle Cost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932688"/>
            <a:ext cx="795527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0">
                <a:solidFill>
                  <a:srgbClr val="69737D"/>
                </a:solidFill>
              </a:defRPr>
            </a:pPr>
            <a:r>
              <a:t>Scenario-based view translating material and FX movement into cost per 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Model: Kodiaq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76688" y="566928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0" y="585216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Period: FY25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Plant: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914400"/>
            <a:ext cx="160020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932688"/>
            <a:ext cx="1444752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37414B"/>
                </a:solidFill>
              </a:defRPr>
            </a:pPr>
            <a:r>
              <a:t>Scenario: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ILLUSTRATIVE / SYNTHETIC DEMO DATA — WIREFRAME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47104"/>
            <a:ext cx="32004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0">
                <a:solidFill>
                  <a:srgbClr val="69737D"/>
                </a:solidFill>
              </a:defRPr>
            </a:pPr>
            <a:r>
              <a:t>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Baseline Cost/Car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₹14.66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2F75B5"/>
                </a:solidFill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9748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0720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Forecast Cost/Car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₹15.04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+2.6%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Material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₹27,000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per 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632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FX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₹11,000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8064A2"/>
                </a:solidFill>
              </a:defRPr>
            </a:pPr>
            <a:r>
              <a:t>per car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298448"/>
            <a:ext cx="20574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0888" y="1371600"/>
            <a:ext cx="182880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Annual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563624"/>
            <a:ext cx="128016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</a:defRPr>
            </a:pPr>
            <a:r>
              <a:t>₹38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71048" y="1618488"/>
            <a:ext cx="5303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10k cars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212848"/>
            <a:ext cx="4846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2286000"/>
            <a:ext cx="45720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Forecast trend — steel index and EUR/INR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8" y="3749039"/>
            <a:ext cx="4160520" cy="0"/>
          </a:xfrm>
          <a:prstGeom prst="line">
            <a:avLst/>
          </a:prstGeom>
          <a:ln>
            <a:solidFill>
              <a:srgbClr val="DE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248" y="2697480"/>
            <a:ext cx="0" cy="1051559"/>
          </a:xfrm>
          <a:prstGeom prst="line">
            <a:avLst/>
          </a:prstGeom>
          <a:ln>
            <a:solidFill>
              <a:srgbClr val="DE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41248" y="3447287"/>
            <a:ext cx="832104" cy="210312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73352" y="3236975"/>
            <a:ext cx="832104" cy="210312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505456" y="3026663"/>
            <a:ext cx="832103" cy="210312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37559" y="2921508"/>
            <a:ext cx="832104" cy="105155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69663" y="2816351"/>
            <a:ext cx="832105" cy="105157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04672" y="3621023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636776" y="3410711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468879" y="3200399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00983" y="2990087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33087" y="2884932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965192" y="2779775"/>
            <a:ext cx="73152" cy="7315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 flipV="1">
            <a:off x="841248" y="3480495"/>
            <a:ext cx="832104" cy="177104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673352" y="3325528"/>
            <a:ext cx="832104" cy="154967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505456" y="3170561"/>
            <a:ext cx="832103" cy="154967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37559" y="2993456"/>
            <a:ext cx="832104" cy="177105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169663" y="2816351"/>
            <a:ext cx="832105" cy="177105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04672" y="3621023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636776" y="3443919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468879" y="3288952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300983" y="3133985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133087" y="2956880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65192" y="2779775"/>
            <a:ext cx="73152" cy="73152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" y="3840480"/>
            <a:ext cx="310896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■ Steel index    ■ EUR/INR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32120" y="2212848"/>
            <a:ext cx="2880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0" y="2286000"/>
            <a:ext cx="26060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Vehicle-cost impact drivers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42432" y="2651760"/>
            <a:ext cx="823874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Steel/alloys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4769" y="2679191"/>
            <a:ext cx="1332738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71739" y="2651760"/>
            <a:ext cx="1938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42432" y="2953512"/>
            <a:ext cx="823874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EUR/INR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4769" y="2980944"/>
            <a:ext cx="1047151" cy="128016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971739" y="2953512"/>
            <a:ext cx="1938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42432" y="3255263"/>
            <a:ext cx="823874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Semi.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14769" y="3282695"/>
            <a:ext cx="761564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71739" y="3255263"/>
            <a:ext cx="1938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42432" y="3557015"/>
            <a:ext cx="823874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Polymers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14769" y="3584447"/>
            <a:ext cx="380782" cy="128016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971739" y="3557015"/>
            <a:ext cx="1938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0.04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42432" y="3858768"/>
            <a:ext cx="823874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</a:defRPr>
            </a:pPr>
            <a:r>
              <a:t>Mitigation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14769" y="3886200"/>
            <a:ext cx="475977" cy="128016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71739" y="3858768"/>
            <a:ext cx="193852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700" b="1">
                <a:solidFill>
                  <a:srgbClr val="37414B"/>
                </a:solidFill>
              </a:defRPr>
            </a:pPr>
            <a:r>
              <a:t>-0.05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95360" y="2212848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732520" y="2286000"/>
            <a:ext cx="27889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Scenario sensitivity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796528" y="2633472"/>
            <a:ext cx="265176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915400" y="2688336"/>
            <a:ext cx="7315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70AD47"/>
                </a:solidFill>
              </a:defRPr>
            </a:pPr>
            <a:r>
              <a:t>Favorable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46920" y="2688336"/>
            <a:ext cx="74980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</a:defRPr>
            </a:pPr>
            <a:r>
              <a:t>₹14.48 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69880" y="2688336"/>
            <a:ext cx="777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70AD47"/>
                </a:solidFill>
              </a:defRPr>
            </a:pPr>
            <a:r>
              <a:t>-₹18 Cr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96528" y="3136391"/>
            <a:ext cx="265176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15400" y="3191256"/>
            <a:ext cx="7315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ED7D31"/>
                </a:solidFill>
              </a:defRPr>
            </a:pPr>
            <a:r>
              <a:t>Base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3191256"/>
            <a:ext cx="74980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</a:defRPr>
            </a:pPr>
            <a:r>
              <a:t>₹15.04 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69880" y="3191256"/>
            <a:ext cx="777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ED7D31"/>
                </a:solidFill>
              </a:defRPr>
            </a:pPr>
            <a:r>
              <a:t>+₹38 Cr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96528" y="3639312"/>
            <a:ext cx="265176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915400" y="3694176"/>
            <a:ext cx="73152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800" b="1">
                <a:solidFill>
                  <a:srgbClr val="C00000"/>
                </a:solidFill>
              </a:defRPr>
            </a:pPr>
            <a:r>
              <a:t>Stress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46920" y="3694176"/>
            <a:ext cx="74980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</a:defRPr>
            </a:pPr>
            <a:r>
              <a:t>₹15.29 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9880" y="3694176"/>
            <a:ext cx="777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800" b="1">
                <a:solidFill>
                  <a:srgbClr val="C00000"/>
                </a:solidFill>
              </a:defRPr>
            </a:pPr>
            <a:r>
              <a:t>+₹63 Cr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4526280"/>
            <a:ext cx="11155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" y="4599432"/>
            <a:ext cx="1088135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Mitigation decision strip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4837176"/>
            <a:ext cx="1069848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37414B"/>
                </a:solidFill>
              </a:defRPr>
            </a:pPr>
            <a:r>
              <a:t>Sourcing: renegotiate alloy index linkage     |     Treasury: review EUR hedge     |     Supplier: escalate semiconductor exposure     |     Savings: protect ₹0.05 L/car mitigation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5916168"/>
            <a:ext cx="11155680" cy="429768"/>
          </a:xfrm>
          <a:prstGeom prst="round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58368" y="5980176"/>
            <a:ext cx="1078992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1000" b="1">
                <a:solidFill>
                  <a:srgbClr val="17365D"/>
                </a:solidFill>
              </a:defRPr>
            </a:pPr>
            <a:r>
              <a:t>BOARD INSIGHT: Steel/alloys and EUR exposure create roughly two-thirds of the projected increase and should be the first mitigation levers.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Abdullah Parkar</dc:creator>
  <cp:keywords/>
  <dc:description>generated using python-pptx</dc:description>
  <cp:lastModifiedBy>Abdullah Parkar</cp:lastModifiedBy>
  <cp:revision>2</cp:revision>
  <dcterms:created xsi:type="dcterms:W3CDTF">2026-10-14T06:28:46Z</dcterms:created>
  <dcterms:modified xsi:type="dcterms:W3CDTF">2026-10-14T07:27:16Z</dcterms:modified>
  <cp:category/>
</cp:coreProperties>
</file>